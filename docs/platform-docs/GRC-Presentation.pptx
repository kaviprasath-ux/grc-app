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8288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B700"/>
                </a:solidFill>
                <a:latin typeface="Calibri"/>
              </a:rPr>
              <a:t>GLIMMORA INTERNATIONAL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FFFFFF"/>
                </a:solidFill>
                <a:latin typeface="Calibri"/>
              </a:rPr>
              <a:t>GRC Platform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3520440"/>
            <a:ext cx="18288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749039"/>
            <a:ext cx="100584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0">
                <a:solidFill>
                  <a:srgbClr val="F4F7FC"/>
                </a:solidFill>
                <a:latin typeface="Calibri"/>
              </a:rPr>
              <a:t>Governance, Risk, Compliance &amp; Assets — one stack, one taxonomy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05295" y="576072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400" b="0">
                <a:solidFill>
                  <a:srgbClr val="F4F7FC"/>
                </a:solidFill>
                <a:latin typeface="Calibri"/>
              </a:rPr>
              <a:t>Investor &amp; Customer Briefing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05295" y="61722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300" b="1">
                <a:solidFill>
                  <a:srgbClr val="FFB700"/>
                </a:solidFill>
                <a:latin typeface="Calibri"/>
              </a:rPr>
              <a:t>info@glimmora.ai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OUTCOMES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teams consolidate on Glimmora GRC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1518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1518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5187" y="2743200"/>
            <a:ext cx="2468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4 Pillars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8067" y="37947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Org • Compliance • Risk • Assets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1266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1266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12667" y="2743200"/>
            <a:ext cx="2468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Test once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95547" y="37947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Satisfy many frameworks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014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014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2743200"/>
            <a:ext cx="2468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3 langs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3027" y="37947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EN / AR (RTL) / LV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07627" y="2377440"/>
            <a:ext cx="2468880" cy="219456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07627" y="2377440"/>
            <a:ext cx="2468880" cy="109728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07627" y="2743200"/>
            <a:ext cx="24688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200" b="1">
                <a:solidFill>
                  <a:srgbClr val="0B3D91"/>
                </a:solidFill>
                <a:latin typeface="Calibri"/>
              </a:rPr>
              <a:t>ISO / SOC2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0507" y="3794760"/>
            <a:ext cx="21031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1F2A44"/>
                </a:solidFill>
                <a:latin typeface="Calibri"/>
              </a:rPr>
              <a:t>GDPR / PCI mapped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Opportunity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lives in spreadsheets, compliance in SharePoint, assets in CMDB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Same control is tested five times for five frameworks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BIA is a 200-page doc nobody reads until DR happens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Board asks 'What is our top risk?' and gets five different answers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Now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Regulators require integrated risk + compliance + control evidence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Customers demand SOC 2 / ISO 27001 in their procurement RFPs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now usable for policy Q&amp;A, risk suggestion, and translation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Hybrid workforces need a shared system of record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EYEBROW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Our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One platform: Organization + Compliance + Risk + Assets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Shared taxonomy across all four pillars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AI-augmented and multilingual (EN / AR / LV)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Multi-tenant SaaS or single-tenant in customer cloud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The Four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PILLAR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Organization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Organisation profile and context register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Process catalogue — the spine of the platform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Structured BIA per process with configurable methodology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BCP labels drive criticality across risk and audit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8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PILLAR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Framework library: ISO 27001, SOC 2, PCI, GDPR + custom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Controls mapped across frameworks — test once, satisfy many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Governance docs with review cadence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Evidence register, Exceptions, KPIs, Regulatory Intelligence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Statement of Applicability stays in sync automatically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PILLAR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Risk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register with assessment, response, review history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Risk-Control Matrix linking risks to mitigating controls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Configurable impact / probability / scoring ranges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suggests risks from process and governance narratives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PILLAR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Asset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Asset Inventory with custom attributes and classification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My Inventory view for custodians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Asset ↔ Risk ↔ Control linking for full traceability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Reports for management and audit review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Differentiators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AI Capabilities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RAG over governance documents — chat with your policies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Risk suggestions from process narratives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Document ingestion with OCR + embeddings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Dynamic translation of user-entered data on create/edit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13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TWO-COLUMN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Stakeholder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Risk &amp; Compliance Leaders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31720"/>
            <a:ext cx="5303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CRO — live risk dashboard, shared taxonomy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CCO — multi-framework mapping, evidence reuse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BCM Lead — structured BIA tied to process catalogue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1828800"/>
            <a:ext cx="27432" cy="4572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828800"/>
            <a:ext cx="53035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B3D91"/>
                </a:solidFill>
                <a:latin typeface="Calibri"/>
              </a:rPr>
              <a:t>Business &amp; 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331720"/>
            <a:ext cx="5303520" cy="4023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Control / Process Owner — clear ownership, less duplicate work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CISO — encryption, RBAC, secure SDLC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1">
                <a:solidFill>
                  <a:srgbClr val="1E88E5"/>
                </a:solidFill>
                <a:latin typeface="Calibri"/>
              </a:rPr>
              <a:t>●  </a:t>
            </a:r>
            <a:r>
              <a:rPr sz="1500">
                <a:solidFill>
                  <a:srgbClr val="1F2A44"/>
                </a:solidFill>
                <a:latin typeface="Calibri"/>
              </a:rPr>
              <a:t>CFO — fewer findings, lower TCO than separate point tools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14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Trust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15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Security &amp;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AES-256-GCM at rest, TLS 1.2+ in transit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RBAC with department-scoped roles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Activity log for every change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Maps to ISO 27001, SOC 2, GDPR, PCI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Encryption kill switch + 90-day master-key rotation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Deployment Options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Multi-tenant SaaS on DigitalOcean (default)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Single-tenant in customer cloud (AWS / Azure / GCP)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Hybrid — app in customer cloud, AI services on Glimmora backbone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UAT + Production environments included with feature-flag gating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17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Implementation Approach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1–2: Discovery and process / framework scoping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3–4: Configuration — frameworks, taxonomy, roles, departments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5–6: Pilot with one function (e.g., IT or Finance)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7–8: Migration of historical risks, controls, evidence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Week 9+: Full rollout + 90 days of weekly office hours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18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515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Calibri"/>
              </a:rPr>
              <a:t>Commercial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4023360"/>
            <a:ext cx="13716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19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Pricing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Per-tenant annual subscription tied to user tiers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AI services metered separately for fair-use pricing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Single-tenant deployments quoted on infrastructure footprint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Implementation services billed per phase, fixed-fee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WHY GLIMMORA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Why Glimmora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GRC purpose-built — not a generic workflow tool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Founders bring decades of GRC and consulting experience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Modern stack (Next.js 16, Python AI)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Native multilingual including Arabic RTL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21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1E88E5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0B3D91"/>
                </a:solidFill>
                <a:latin typeface="Calibri"/>
              </a:rPr>
              <a:t>Roadmap (12 Months)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371600" cy="4572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Continuous-control monitoring connectors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Native mobile evidence capture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ITSM webhooks (ServiceNow / Jira)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Quantitative risk (Monte Carlo) module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1E88E5"/>
                </a:solidFill>
                <a:latin typeface="Calibri"/>
              </a:rPr>
              <a:t>●  </a:t>
            </a:r>
            <a:r>
              <a:rPr sz="1800">
                <a:solidFill>
                  <a:srgbClr val="1F2A44"/>
                </a:solidFill>
                <a:latin typeface="Calibri"/>
              </a:rPr>
              <a:t>Vendor-risk deep integration with TPRM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8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" cy="6858000"/>
          </a:xfrm>
          <a:prstGeom prst="rect">
            <a:avLst/>
          </a:prstGeom>
          <a:solidFill>
            <a:srgbClr val="1E88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0"/>
            <a:ext cx="11643055" cy="182880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3108960"/>
            <a:ext cx="1828800" cy="73152"/>
          </a:xfrm>
          <a:prstGeom prst="rect">
            <a:avLst/>
          </a:prstGeom>
          <a:solidFill>
            <a:srgbClr val="FFB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383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F4F7FC"/>
                </a:solidFill>
                <a:latin typeface="Calibri"/>
              </a:rPr>
              <a:t>Let's run a two-week pilot on your frameworks and risks.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30-minute discovery call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60-minute live demo on your frameworks and risk register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Two-week pilot on UAT with a real function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800" b="1">
                <a:solidFill>
                  <a:srgbClr val="FFB700"/>
                </a:solidFill>
                <a:latin typeface="Calibri"/>
              </a:rPr>
              <a:t>●  </a:t>
            </a:r>
            <a:r>
              <a:rPr sz="1800">
                <a:solidFill>
                  <a:srgbClr val="F4F7FC"/>
                </a:solidFill>
                <a:latin typeface="Calibri"/>
              </a:rPr>
              <a:t>Production go-live in 6 – 8 weeks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A18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00" b="0">
                <a:solidFill>
                  <a:srgbClr val="F4F7FC"/>
                </a:solidFill>
                <a:latin typeface="Calibri"/>
              </a:rPr>
              <a:t>Glimmora International  •  GRC Platform  •  info@glimmora.ai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565392"/>
            <a:ext cx="8229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>
                <a:solidFill>
                  <a:srgbClr val="F4F7FC"/>
                </a:solidFill>
                <a:latin typeface="Calibri"/>
              </a:rPr>
              <a:t>23 / 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